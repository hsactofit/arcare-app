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-146304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766560" y="3108960"/>
            <a:ext cx="2926080" cy="292608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14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32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 ·  FROM APP DEMO VIDEO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user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through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MediFit.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94360" y="32918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→ Home → SOS &amp; Gym → Plans → Log health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Buddy chat → Challenges → Progress → Profile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411480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4114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MediFit Wellness360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18504" y="530352"/>
            <a:ext cx="2331720" cy="4251960"/>
          </a:xfrm>
          <a:prstGeom prst="roundRect">
            <a:avLst>
              <a:gd name="adj" fmla="val 1098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457200"/>
            <a:ext cx="2331720" cy="4251960"/>
          </a:xfrm>
          <a:prstGeom prst="roundRect">
            <a:avLst>
              <a:gd name="adj" fmla="val 1098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304800" dist="101600" dir="9600000">
              <a:srgbClr val="0A1628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36792" y="530352"/>
            <a:ext cx="2185416" cy="4105656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/>
        </p:spPr>
      </p:sp>
      <p:pic>
        <p:nvPicPr>
          <p:cNvPr id="15" name="Image 1" descr="D:\Ocavior-flutter\Arcare-App\screenshots\flow_shots\02_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08" y="544068"/>
            <a:ext cx="2157984" cy="407822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173468" y="54864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journey 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 from the demo video, plus AI Buddy chat — log data, health updates, and Q&amp;A.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8138160" cy="320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203200" dist="50800" dir="8400000">
              <a:srgbClr val="0A162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80640000" dist="645160000" dir="504000000000">
              <a:srgbClr val="0A1628">
                <a:alpha val="1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social 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1965960"/>
            <a:ext cx="365760" cy="36576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32774128000000" dist="8193532000000" dir="30240000000000000">
              <a:srgbClr val="0A1628">
                <a:alpha val="1200000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916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1732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6231425600000000" dist="104057856400000000" dir="1.8144e+21">
              <a:srgbClr val="0A1628">
                <a:alpha val="120000000000000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goals,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hub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1965960"/>
            <a:ext cx="365760" cy="365760"/>
          </a:xfrm>
          <a:prstGeom prst="ellipse">
            <a:avLst/>
          </a:prstGeom>
          <a:solidFill>
            <a:srgbClr val="F43F5E"/>
          </a:solidFill>
          <a:ln/>
          <a:effectLst>
            <a:outerShdw sx="100000" sy="100000" kx="0" ky="0" algn="bl" rotWithShape="0" blurRad="5.28613910512e+21" dist="1.32153477628e+21" dir="1.08864e+26">
              <a:srgbClr val="0A1628">
                <a:alpha val="1.2e+2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889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7133966635024e+25" dist="1.6783491658756e+25" dir="6.53184e+30">
              <a:srgbClr val="0A1628">
                <a:alpha val="1.2e+2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+ gym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86200" y="1965960"/>
            <a:ext cx="365760" cy="3657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8.526013762648047e+29" dist="2.1315034406620118e+29" dir="3.919104e+35">
              <a:srgbClr val="0A1628">
                <a:alpha val="1.2e+3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86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82803747856302e+34" dist="2.707009369640755e+33" dir="2.3514624e+40">
              <a:srgbClr val="0A1628">
                <a:alpha val="1.1999999999999999e+3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.3751607597775036e+38" dist="3.437901899443759e+37" dir="1.4108774399999998e+45">
              <a:srgbClr val="0A1628">
                <a:alpha val="1.1999999999999999e+4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464541649174296e+42" dist="4.366135412293574e+41" dir="8.465264639999999e+49">
              <a:srgbClr val="0A1628">
                <a:alpha val="1.2e+4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food,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1965960"/>
            <a:ext cx="365760" cy="3657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2.2179967894451356e+46" dist="5.544991973612839e+45" dir="5.079158783999999e+54">
              <a:srgbClr val="0A1628">
                <a:alpha val="1.2e+54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807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0644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816855922595322e+50" dist="7.042139806488305e+49" dir="3.0474952703999995e+59">
              <a:srgbClr val="0A1628">
                <a:alpha val="1.2e+5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5216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5216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data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Q&amp;A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78040" y="1965960"/>
            <a:ext cx="365760" cy="36576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.5774070216960594e+54" dist="8.943517554240149e+53" dir="1.8284971622399997e+64">
              <a:srgbClr val="0A1628">
                <a:alpha val="1.2000000000000001e+6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780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0372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5433069175539954e+58" dist="1.1358267293884988e+58" dir="1.0970982973439999e+69">
              <a:srgbClr val="0A1628">
                <a:alpha val="1.2e+69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4944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75320" y="1965960"/>
            <a:ext cx="365760" cy="36576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5.769999785293575e+62" dist="1.4424999463233936e+62" dir="6.582589784064e+73">
              <a:srgbClr val="0A1628">
                <a:alpha val="1.2e+74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753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01000" y="2606040"/>
            <a:ext cx="1024128" cy="169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32789972732284e+66" dist="1.83197493183071e+66" dir="3.9495538704384e+78">
              <a:srgbClr val="0A1628">
                <a:alpha val="1.2000000000000001e+79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046720" y="27889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0" y="315468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2/15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7764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411480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11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·  AUTH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enter the app.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opens on Create Account. User can also use Google or Apple, then land on Home.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9008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971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email, password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7413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3355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&amp; privacy acceptance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5818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3739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Apple social signup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4223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" y="4123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users → Log In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175504" y="438912"/>
            <a:ext cx="2423160" cy="4434840"/>
          </a:xfrm>
          <a:prstGeom prst="roundRect">
            <a:avLst>
              <a:gd name="adj" fmla="val 10566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5120640" y="365760"/>
            <a:ext cx="2423160" cy="4434840"/>
          </a:xfrm>
          <a:prstGeom prst="roundRect">
            <a:avLst>
              <a:gd name="adj" fmla="val 1056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3870960000" dist="1290320000" dir="576000000000">
              <a:srgbClr val="0A1628">
                <a:alpha val="200000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193792" y="438912"/>
            <a:ext cx="2276856" cy="4288536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/>
        </p:spPr>
      </p:sp>
      <p:pic>
        <p:nvPicPr>
          <p:cNvPr id="19" name="Image 4" descr="D:\Ocavior-flutter\Arcare-App\screenshots\flow_shots\01_signup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508" y="452628"/>
            <a:ext cx="2249424" cy="426110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076188" y="4572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21" name="Shape 14"/>
          <p:cNvSpPr/>
          <p:nvPr/>
        </p:nvSpPr>
        <p:spPr>
          <a:xfrm>
            <a:off x="7772400" y="1828800"/>
            <a:ext cx="10972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306432653700006e+70" dist="2.3266081634250016e+70" dir="2.36973232226304e+83">
              <a:srgbClr val="0A1628">
                <a:alpha val="1.2000000000000002e+84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81812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818120" y="2331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3/15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Home — daily command center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starts here: wellness score, quick actions, today’s plans, bottom nav.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" y="1124712"/>
            <a:ext cx="2011680" cy="3657600"/>
          </a:xfrm>
          <a:prstGeom prst="roundRect">
            <a:avLst>
              <a:gd name="adj" fmla="val 12727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51560"/>
            <a:ext cx="2011680" cy="3657600"/>
          </a:xfrm>
          <a:prstGeom prst="roundRect">
            <a:avLst>
              <a:gd name="adj" fmla="val 1272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49161192000000" dist="16387064000000" dir="34560000000000000">
              <a:srgbClr val="0A1628">
                <a:alpha val="200000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124712"/>
            <a:ext cx="1865376" cy="3511296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/>
        </p:spPr>
      </p:sp>
      <p:pic>
        <p:nvPicPr>
          <p:cNvPr id="9" name="Image 0" descr="D:\Ocavior-flutter\Arcare-App\screenshots\flow_shots\02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138428"/>
            <a:ext cx="1837944" cy="34838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61288" y="1143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0" y="1097280"/>
            <a:ext cx="28803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819169470199008e+75" dist="2.954792367549752e+74" dir="1.4218393933578241e+88">
              <a:srgbClr val="0A1628">
                <a:alpha val="1.2000000000000002e+8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26080" y="13258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139903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&amp; Gym tiles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2608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and gym QR entry from the top of Home.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06440" y="1097280"/>
            <a:ext cx="28803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01034522715274e+79" dist="3.752586306788185e+78" dir="8.531036360146945e+92">
              <a:srgbClr val="0A1628">
                <a:alpha val="1.2000000000000001e+94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9320" y="13258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39903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8932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Wellness Score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98932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score 0–100 across Active, Sleep, Nutrition, Mind.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0" y="2788920"/>
            <a:ext cx="28803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906313843848398e+83" dist="4.765784609620995e+82" dir="5.118621816088167e+97">
              <a:srgbClr val="0A1628">
                <a:alpha val="1.2e+99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926080" y="3017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309067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26080" y="3566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Plans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292608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plan card + Nutrition plan card with open / start.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806440" y="2788920"/>
            <a:ext cx="28803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4210185816874654e+87" dist="6.052546454218663e+86" dir="3.0711730896529e+102">
              <a:srgbClr val="0A1628">
                <a:alpha val="1.2e+104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89320" y="3017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309067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989320" y="3566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98932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Challenges · AI Buddy chat · Progress · Profile.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4/15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03A  ·  SAFETY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Emergency 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SOS tile → one-tap alert + services + contacts.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074693598743081e+91" dist="7.6867339968577025e+90" dir="1.84270385379174e+107">
              <a:srgbClr val="0A1628">
                <a:alpha val="1.2e+10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36776"/>
            <a:ext cx="347472" cy="34747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581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SOS button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8196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alert emergency contacts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04860870403713e+95" dist="9.762152176009283e+94" dir="1.105622312275044e+112">
              <a:srgbClr val="0A1628">
                <a:alpha val="1.1999999999999999e+11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267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services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505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100 · Ambulance 102 · Fire 101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9591733054127155e+99" dist="1.2397933263531789e+99" dir="6.633733873650264e+116">
              <a:srgbClr val="0A1628">
                <a:alpha val="1.1999999999999998e+11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008376"/>
            <a:ext cx="347472" cy="34747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953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contacts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1912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call saved emergency people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9377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298150097874148e+103" dist="1.574537524468537e+103" dir="3.9802403241901584e+121">
              <a:srgbClr val="0A1628">
                <a:alpha val="1.1999999999999998e+12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639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feedback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8770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confirms numbers updated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576072"/>
            <a:ext cx="2468880" cy="4434840"/>
          </a:xfrm>
          <a:prstGeom prst="roundRect">
            <a:avLst>
              <a:gd name="adj" fmla="val 1037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502920"/>
            <a:ext cx="2468880" cy="4434840"/>
          </a:xfrm>
          <a:prstGeom prst="roundRect">
            <a:avLst>
              <a:gd name="adj" fmla="val 1037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624347138400000000" dist="208115712800000000" dir="2.0736e+21">
              <a:srgbClr val="0A1628">
                <a:alpha val="2000000000000000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576072"/>
            <a:ext cx="2322576" cy="4288536"/>
          </a:xfrm>
          <a:prstGeom prst="roundRect">
            <a:avLst>
              <a:gd name="adj" fmla="val 8661"/>
            </a:avLst>
          </a:prstGeom>
          <a:solidFill>
            <a:srgbClr val="FFFFFF"/>
          </a:solidFill>
          <a:ln/>
        </p:spPr>
      </p:sp>
      <p:pic>
        <p:nvPicPr>
          <p:cNvPr id="31" name="Image 0" descr="D:\Ocavior-flutter\Arcare-App\screenshots\flow_shots\03_s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3348" y="589788"/>
            <a:ext cx="2295144" cy="4261104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104888" y="59436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5/15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03B  ·  Gym QR check-in &amp; checkout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Gym → scan QR → live timer → log exercises → checkout.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170432"/>
            <a:ext cx="1874520" cy="3429000"/>
          </a:xfrm>
          <a:prstGeom prst="roundRect">
            <a:avLst>
              <a:gd name="adj" fmla="val 13659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1874520" cy="3429000"/>
          </a:xfrm>
          <a:prstGeom prst="roundRect">
            <a:avLst>
              <a:gd name="adj" fmla="val 1365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.92920865768e+21" dist="2.64306955256e+21" dir="1.24416e+26">
              <a:srgbClr val="0A1628">
                <a:alpha val="2e+2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170432"/>
            <a:ext cx="1728216" cy="3282696"/>
          </a:xfrm>
          <a:prstGeom prst="roundRect">
            <a:avLst>
              <a:gd name="adj" fmla="val 11640"/>
            </a:avLst>
          </a:prstGeom>
          <a:solidFill>
            <a:srgbClr val="FFFFFF"/>
          </a:solidFill>
          <a:ln/>
        </p:spPr>
      </p:sp>
      <p:pic>
        <p:nvPicPr>
          <p:cNvPr id="9" name="Image 0" descr="D:\Ocavior-flutter\Arcare-App\screenshots\flow_shots\04_gy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" y="1184148"/>
            <a:ext cx="1700784" cy="32552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6988" y="118872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1" name="Shape 8"/>
          <p:cNvSpPr/>
          <p:nvPr/>
        </p:nvSpPr>
        <p:spPr>
          <a:xfrm>
            <a:off x="2478024" y="1170432"/>
            <a:ext cx="1874520" cy="3429000"/>
          </a:xfrm>
          <a:prstGeom prst="roundRect">
            <a:avLst>
              <a:gd name="adj" fmla="val 13659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423160" y="1097280"/>
            <a:ext cx="1874520" cy="3429000"/>
          </a:xfrm>
          <a:prstGeom prst="roundRect">
            <a:avLst>
              <a:gd name="adj" fmla="val 1365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.00700949952536e+26" dist="3.3566983317512e+25" dir="7.46496e+30">
              <a:srgbClr val="0A1628">
                <a:alpha val="2e+2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96312" y="1170432"/>
            <a:ext cx="1728216" cy="3282696"/>
          </a:xfrm>
          <a:prstGeom prst="roundRect">
            <a:avLst>
              <a:gd name="adj" fmla="val 11640"/>
            </a:avLst>
          </a:prstGeom>
          <a:solidFill>
            <a:srgbClr val="FFFFFF"/>
          </a:solidFill>
          <a:ln/>
        </p:spPr>
      </p:sp>
      <p:pic>
        <p:nvPicPr>
          <p:cNvPr id="14" name="Image 1" descr="D:\Ocavior-flutter\Arcare-App\screenshots\flow_shots\16_gym_checkou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028" y="1184148"/>
            <a:ext cx="1700784" cy="32552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104388" y="118872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6" name="Shape 12"/>
          <p:cNvSpPr/>
          <p:nvPr/>
        </p:nvSpPr>
        <p:spPr>
          <a:xfrm>
            <a:off x="4617720" y="1143000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998650624300169e+107" dist="1.9996626560750422e+107" dir="2.388144194514095e+126">
              <a:srgbClr val="0A1628">
                <a:alpha val="1.1999999999999998e+129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130759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4"/>
          <p:cNvSpPr/>
          <p:nvPr/>
        </p:nvSpPr>
        <p:spPr>
          <a:xfrm>
            <a:off x="480060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349240" y="1252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partner gym QR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4924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preferred: name + place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17720" y="1965960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158286292861213e+112" dist="2.5395715732153033e+111" dir="1.432886516708457e+131">
              <a:srgbClr val="0A1628">
                <a:alpha val="1.1999999999999998e+134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00600" y="213055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19"/>
          <p:cNvSpPr/>
          <p:nvPr/>
        </p:nvSpPr>
        <p:spPr>
          <a:xfrm>
            <a:off x="480060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34924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session timer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34924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+ gym name shown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17720" y="2788920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901023591933741e+116" dist="3.2252558979834354e+115" dir="8.597319100250742e+135">
              <a:srgbClr val="0A1628">
                <a:alpha val="1.1999999999999998e+139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800600" y="295351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4"/>
          <p:cNvSpPr/>
          <p:nvPr/>
        </p:nvSpPr>
        <p:spPr>
          <a:xfrm>
            <a:off x="48006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349240" y="2898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shows GYM ACTIVE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34924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tile on dashboard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617720" y="3611880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38429996175585e+120" dist="4.0960749904389626e+119" dir="5.158391460150445e+140">
              <a:srgbClr val="0A1628">
                <a:alpha val="1.1999999999999999e+144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800600" y="377647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29"/>
          <p:cNvSpPr/>
          <p:nvPr/>
        </p:nvSpPr>
        <p:spPr>
          <a:xfrm>
            <a:off x="48006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349240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&amp; log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349240" y="3977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exercises/sets → Checkout &amp; Log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6/15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04A  ·  Create workout plan (AI)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Workout card → Create plan → 4-step wizard → generated Strength plan.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170432"/>
            <a:ext cx="1920240" cy="3474720"/>
          </a:xfrm>
          <a:prstGeom prst="roundRect">
            <a:avLst>
              <a:gd name="adj" fmla="val 13333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1920240" cy="347472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.2789020643972072e+30" dist="4.2630068813240236e+29" dir="4.4789760000000005e+35">
              <a:srgbClr val="0A1628">
                <a:alpha val="2e+3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170432"/>
            <a:ext cx="1773936" cy="3328416"/>
          </a:xfrm>
          <a:prstGeom prst="roundRect">
            <a:avLst>
              <a:gd name="adj" fmla="val 11340"/>
            </a:avLst>
          </a:prstGeom>
          <a:solidFill>
            <a:srgbClr val="FFFFFF"/>
          </a:solidFill>
          <a:ln/>
        </p:spPr>
      </p:sp>
      <p:pic>
        <p:nvPicPr>
          <p:cNvPr id="9" name="Image 0" descr="D:\Ocavior-flutter\Arcare-App\screenshots\flow_shots\06_create_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" y="1184148"/>
            <a:ext cx="1746504" cy="3300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69848" y="118872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1" name="Shape 8"/>
          <p:cNvSpPr/>
          <p:nvPr/>
        </p:nvSpPr>
        <p:spPr>
          <a:xfrm>
            <a:off x="2523744" y="1170432"/>
            <a:ext cx="1920240" cy="3474720"/>
          </a:xfrm>
          <a:prstGeom prst="roundRect">
            <a:avLst>
              <a:gd name="adj" fmla="val 13333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468880" y="1097280"/>
            <a:ext cx="1920240" cy="347472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.624205621784453e+34" dist="5.41401873928151e+33" dir="2.6873856e+40">
              <a:srgbClr val="0A1628">
                <a:alpha val="2e+3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42032" y="1170432"/>
            <a:ext cx="1773936" cy="3328416"/>
          </a:xfrm>
          <a:prstGeom prst="roundRect">
            <a:avLst>
              <a:gd name="adj" fmla="val 11340"/>
            </a:avLst>
          </a:prstGeom>
          <a:solidFill>
            <a:srgbClr val="FFFFFF"/>
          </a:solidFill>
          <a:ln/>
        </p:spPr>
      </p:sp>
      <p:pic>
        <p:nvPicPr>
          <p:cNvPr id="14" name="Image 1" descr="D:\Ocavior-flutter\Arcare-App\screenshots\flow_shots\07_plan_det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48" y="1184148"/>
            <a:ext cx="1746504" cy="33009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172968" y="118872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6" name="Shape 12"/>
          <p:cNvSpPr/>
          <p:nvPr/>
        </p:nvSpPr>
        <p:spPr>
          <a:xfrm>
            <a:off x="4709160" y="109728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080806095142993e+124" dist="5.2020152378574823e+123" dir="3.095034876090267e+145">
              <a:srgbClr val="0A1628">
                <a:alpha val="1.1999999999999998e+149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261872"/>
            <a:ext cx="64008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18" name="Text 14"/>
          <p:cNvSpPr/>
          <p:nvPr/>
        </p:nvSpPr>
        <p:spPr>
          <a:xfrm>
            <a:off x="4846320" y="12618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62356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&amp; setup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6235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 e.g. Build muscle; intensity &amp; duration.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09160" y="192024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42623740831601e+128" dist="6.606559352079002e+127" dir="1.85702092565416e+150">
              <a:srgbClr val="0A1628">
                <a:alpha val="1.1999999999999998e+154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46320" y="2084832"/>
            <a:ext cx="64008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23" name="Text 19"/>
          <p:cNvSpPr/>
          <p:nvPr/>
        </p:nvSpPr>
        <p:spPr>
          <a:xfrm>
            <a:off x="4846320" y="20848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62356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touches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623560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title (e.g. Strength), notes, generate.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709160" y="274320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56132150856133e+132" dist="8.390330377140333e+131" dir="1.1142125553924962e+155">
              <a:srgbClr val="0A1628">
                <a:alpha val="1.1999999999999998e+159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846320" y="2907792"/>
            <a:ext cx="64008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28" name="Text 24"/>
          <p:cNvSpPr/>
          <p:nvPr/>
        </p:nvSpPr>
        <p:spPr>
          <a:xfrm>
            <a:off x="4846320" y="29077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623560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plan…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62356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builds day-by-day workouts.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709160" y="356616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262287831587289e+136" dist="1.0655719578968222e+136" dir="6.685275332354977e+159">
              <a:srgbClr val="0A1628">
                <a:alpha val="1.1999999999999998e+164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846320" y="3730752"/>
            <a:ext cx="64008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33" name="Text 29"/>
          <p:cNvSpPr/>
          <p:nvPr/>
        </p:nvSpPr>
        <p:spPr>
          <a:xfrm>
            <a:off x="4846320" y="37307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623560" y="3675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plan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62356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Exercises, sets, muscle tags, instructions.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7/15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04B–05  ·  Nutrition plans, food log &amp; hydration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from AI plans, quick food logging, and water tracker with cup / bottle / flask.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" y="1124712"/>
            <a:ext cx="1691640" cy="3063240"/>
          </a:xfrm>
          <a:prstGeom prst="roundRect">
            <a:avLst>
              <a:gd name="adj" fmla="val 15135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051560"/>
            <a:ext cx="1691640" cy="3063240"/>
          </a:xfrm>
          <a:prstGeom prst="roundRect">
            <a:avLst>
              <a:gd name="adj" fmla="val 1513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2.0627411396662553e+38" dist="6.875803798887518e+37" dir="1.61243136e+45">
              <a:srgbClr val="0A1628">
                <a:alpha val="1.9999999999999998e+4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124712"/>
            <a:ext cx="1545336" cy="2916936"/>
          </a:xfrm>
          <a:prstGeom prst="roundRect">
            <a:avLst>
              <a:gd name="adj" fmla="val 13018"/>
            </a:avLst>
          </a:prstGeom>
          <a:solidFill>
            <a:srgbClr val="FFFFFF"/>
          </a:solidFill>
          <a:ln/>
        </p:spPr>
      </p:sp>
      <p:pic>
        <p:nvPicPr>
          <p:cNvPr id="9" name="Image 0" descr="D:\Ocavior-flutter\Arcare-App\screenshots\flow_shots\08_nutrition_pla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138428"/>
            <a:ext cx="1517904" cy="28895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275588" y="1143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Plans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Veg Plan, meal macros, create new plan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21024" y="1124712"/>
            <a:ext cx="1691640" cy="3063240"/>
          </a:xfrm>
          <a:prstGeom prst="roundRect">
            <a:avLst>
              <a:gd name="adj" fmla="val 15135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566160" y="1051560"/>
            <a:ext cx="1691640" cy="3063240"/>
          </a:xfrm>
          <a:prstGeom prst="roundRect">
            <a:avLst>
              <a:gd name="adj" fmla="val 1513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2.6196812473761443e+42" dist="8.732270824587148e+41" dir="9.67458816e+49">
              <a:srgbClr val="0A1628">
                <a:alpha val="2e+49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39312" y="1124712"/>
            <a:ext cx="1545336" cy="2916936"/>
          </a:xfrm>
          <a:prstGeom prst="roundRect">
            <a:avLst>
              <a:gd name="adj" fmla="val 13018"/>
            </a:avLst>
          </a:prstGeom>
          <a:solidFill>
            <a:srgbClr val="FFFFFF"/>
          </a:solidFill>
          <a:ln/>
        </p:spPr>
      </p:sp>
      <p:pic>
        <p:nvPicPr>
          <p:cNvPr id="16" name="Image 1" descr="D:\Ocavior-flutter\Arcare-App\screenshots\flow_shots\11_nutrition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138428"/>
            <a:ext cx="1517904" cy="288950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155948" y="1143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8" name="Text 14"/>
          <p:cNvSpPr/>
          <p:nvPr/>
        </p:nvSpPr>
        <p:spPr>
          <a:xfrm>
            <a:off x="324612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logging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4612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Quick-add foods + custom entries + trends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01384" y="1124712"/>
            <a:ext cx="1691640" cy="3063240"/>
          </a:xfrm>
          <a:prstGeom prst="roundRect">
            <a:avLst>
              <a:gd name="adj" fmla="val 15135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446520" y="1051560"/>
            <a:ext cx="1691640" cy="3063240"/>
          </a:xfrm>
          <a:prstGeom prst="roundRect">
            <a:avLst>
              <a:gd name="adj" fmla="val 1513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3.326995184167703e+46" dist="1.1089983947225678e+46" dir="5.804752896e+54">
              <a:srgbClr val="0A1628">
                <a:alpha val="1.9999999999999998e+54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519672" y="1124712"/>
            <a:ext cx="1545336" cy="2916936"/>
          </a:xfrm>
          <a:prstGeom prst="roundRect">
            <a:avLst>
              <a:gd name="adj" fmla="val 13018"/>
            </a:avLst>
          </a:prstGeom>
          <a:solidFill>
            <a:srgbClr val="FFFFFF"/>
          </a:solidFill>
          <a:ln/>
        </p:spPr>
      </p:sp>
      <p:pic>
        <p:nvPicPr>
          <p:cNvPr id="23" name="Image 2" descr="D:\Ocavior-flutter\Arcare-App\screenshots\flow_shots\10_wat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1138428"/>
            <a:ext cx="1517904" cy="288950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036308" y="1143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25" name="Text 20"/>
          <p:cNvSpPr/>
          <p:nvPr/>
        </p:nvSpPr>
        <p:spPr>
          <a:xfrm>
            <a:off x="612648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2648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bottle, +250/+500/+750 ml, history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8/15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 ·  INSIGHTS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deep-dives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&amp; calories open historical analysis with AI Wellness Buddy tips.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413105546115857e+140" dist="1.3532763865289643e+140" dir="4.0111651994129863e+164">
              <a:srgbClr val="0A1628">
                <a:alpha val="1.1999999999999998e+16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719072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719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detail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history, below-target flags, AI walking advice.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874644043567139e+144" dist="1.7186610108917847e+144" dir="2.4066991196477918e+169">
              <a:srgbClr val="0A1628">
                <a:alpha val="1.1999999999999997e+17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281635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8163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detail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182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+ combined burn, activity trend chart.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730797935330267e+148" dist="2.1826994838325667e+148" dir="1.4440194717886751e+174">
              <a:srgbClr val="0A1628">
                <a:alpha val="1.1999999999999996e+17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49040"/>
            <a:ext cx="73152" cy="8229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3913632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913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Buddy insight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4279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card: personal tip based on averages.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8464" y="713232"/>
            <a:ext cx="2514600" cy="4114800"/>
          </a:xfrm>
          <a:prstGeom prst="roundRect">
            <a:avLst>
              <a:gd name="adj" fmla="val 10182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640080"/>
            <a:ext cx="2514600" cy="4114800"/>
          </a:xfrm>
          <a:prstGeom prst="roundRect">
            <a:avLst>
              <a:gd name="adj" fmla="val 1018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4.225283883892983e+50" dist="1.408427961297661e+50" dir="3.4828517376e+59">
              <a:srgbClr val="0A1628">
                <a:alpha val="1.9999999999999997e+5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16752" y="713232"/>
            <a:ext cx="2368296" cy="3968496"/>
          </a:xfrm>
          <a:prstGeom prst="roundRect">
            <a:avLst>
              <a:gd name="adj" fmla="val 8494"/>
            </a:avLst>
          </a:prstGeom>
          <a:solidFill>
            <a:srgbClr val="FFFFFF"/>
          </a:solidFill>
          <a:ln/>
        </p:spPr>
      </p:sp>
      <p:pic>
        <p:nvPicPr>
          <p:cNvPr id="29" name="Image 0" descr="D:\Ocavior-flutter\Arcare-App\screenshots\flow_shots\17_calor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0468" y="726948"/>
            <a:ext cx="2340864" cy="3941064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944868" y="73152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9/15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56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 ·  AI BUDDY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that acts on your health.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tab loads AI Buddy chat — history restores on open. Users talk naturally to log data, get updates, or ask health questions.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08811337786944e+153" dist="2.77202834446736e+152" dir="8.66411683073205e+178">
              <a:srgbClr val="0A1628">
                <a:alpha val="1.1999999999999996e+18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" y="1737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0FD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0136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072" y="2212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loads instantly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" y="2450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last conversation (or a fresh greeting). “New chat” starts a clean thread.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55448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081903989894187e+157" dist="3.520475997473547e+156" dir="5.198470098439231e+183">
              <a:srgbClr val="0A1628">
                <a:alpha val="1.1999999999999995e+18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02152" y="1737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0FDF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013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2152" y="2212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data via chat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02152" y="2450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“log 500 ml water” or “add 2000 steps” — AI confirms and writes logged_actions.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1480" y="297180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884018067165616e+161" dist="4.471004516791404e+160" dir="3.1190820590635384e+188">
              <a:srgbClr val="0A1628">
                <a:alpha val="1.1999999999999995e+194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6072" y="31546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0FDF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1868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" y="3630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updates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76072" y="3867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“assess my health score” — buddy reviews score, sleep, hydration, plans &amp; goals.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337560" y="297180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2712702945300334e+165" dist="5.678175736325083e+164" dir="1.8714492354381232e+193">
              <a:srgbClr val="0A1628">
                <a:alpha val="1.1999999999999994e+199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502152" y="31546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0FDF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1868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502152" y="3630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health query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502152" y="3867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tips, burn 500 kcal, water targets, routines — free-form Q&amp;A with context.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501384" y="576072"/>
            <a:ext cx="2286000" cy="4160520"/>
          </a:xfrm>
          <a:prstGeom prst="roundRect">
            <a:avLst>
              <a:gd name="adj" fmla="val 112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6446520" y="502920"/>
            <a:ext cx="2286000" cy="4160520"/>
          </a:xfrm>
          <a:prstGeom prst="roundRect">
            <a:avLst>
              <a:gd name="adj" fmla="val 112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5.366110532544088e+54" dist="1.7887035108480297e+54" dir="2.08971104256e+64">
              <a:srgbClr val="0A1628">
                <a:alpha val="1.9999999999999998e+64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519672" y="576072"/>
            <a:ext cx="2139696" cy="4014216"/>
          </a:xfrm>
          <a:prstGeom prst="roundRect">
            <a:avLst>
              <a:gd name="adj" fmla="val 9402"/>
            </a:avLst>
          </a:prstGeom>
          <a:solidFill>
            <a:srgbClr val="FFFFFF"/>
          </a:solidFill>
          <a:ln/>
        </p:spPr>
      </p:sp>
      <p:pic>
        <p:nvPicPr>
          <p:cNvPr id="31" name="Image 4" descr="D:\Ocavior-flutter\Arcare-App\screenshots\flow_shots\18_ai_budd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388" y="589788"/>
            <a:ext cx="2112264" cy="398678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333488" y="59436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33" name="Text 26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10/15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 ·  ENGAGE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Tab: Challenges. Join a challenge, track progress on Home and Challenges, earn points.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61488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743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total points + active count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12724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3108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Walk 5k / 10k, Drink 2L…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930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3474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Challenge → progress bar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5876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3840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rank shown on active card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24528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goal mirrored on Home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084064" y="484632"/>
            <a:ext cx="2331720" cy="4297680"/>
          </a:xfrm>
          <a:prstGeom prst="roundRect">
            <a:avLst>
              <a:gd name="adj" fmla="val 1098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9" name="Shape 12"/>
          <p:cNvSpPr/>
          <p:nvPr/>
        </p:nvSpPr>
        <p:spPr>
          <a:xfrm>
            <a:off x="5029200" y="411480"/>
            <a:ext cx="2331720" cy="4297680"/>
          </a:xfrm>
          <a:prstGeom prst="roundRect">
            <a:avLst>
              <a:gd name="adj" fmla="val 1098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6.814960376330991e+58" dist="2.2716534587769977e+58" dir="1.253826625536e+69">
              <a:srgbClr val="0A1628">
                <a:alpha val="1.9999999999999998e+69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5102352" y="484632"/>
            <a:ext cx="2185416" cy="4151376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/>
        </p:spPr>
      </p:sp>
      <p:pic>
        <p:nvPicPr>
          <p:cNvPr id="21" name="Image 5" descr="D:\Ocavior-flutter\Arcare-App\screenshots\flow_shots\12_challenge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068" y="498348"/>
            <a:ext cx="2157984" cy="41239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939028" y="50292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23" name="Shape 15"/>
          <p:cNvSpPr/>
          <p:nvPr/>
        </p:nvSpPr>
        <p:spPr>
          <a:xfrm>
            <a:off x="7370064" y="987552"/>
            <a:ext cx="1554480" cy="2880360"/>
          </a:xfrm>
          <a:prstGeom prst="roundRect">
            <a:avLst>
              <a:gd name="adj" fmla="val 16471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4" name="Shape 16"/>
          <p:cNvSpPr/>
          <p:nvPr/>
        </p:nvSpPr>
        <p:spPr>
          <a:xfrm>
            <a:off x="7315200" y="914400"/>
            <a:ext cx="1554480" cy="2880360"/>
          </a:xfrm>
          <a:prstGeom prst="roundRect">
            <a:avLst>
              <a:gd name="adj" fmla="val 1647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8.65499967794036e+62" dist="2.8849998926467873e+62" dir="7.522959753216001e+73">
              <a:srgbClr val="0A1628">
                <a:alpha val="1.9999999999999997e+74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388352" y="987552"/>
            <a:ext cx="1408176" cy="273405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pic>
        <p:nvPicPr>
          <p:cNvPr id="26" name="Image 6" descr="D:\Ocavior-flutter\Arcare-App\screenshots\flow_shots\05_home_gym_activ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2068" y="1001268"/>
            <a:ext cx="1380744" cy="270662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836408" y="100584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28" name="Text 19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11/15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07B  ·  Progress &amp; trends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Tab: Progress — Daily / Weekly / Monthly views for steps, calories, sleep, water.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" y="1124712"/>
            <a:ext cx="2057400" cy="3703320"/>
          </a:xfrm>
          <a:prstGeom prst="roundRect">
            <a:avLst>
              <a:gd name="adj" fmla="val 12444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51560"/>
            <a:ext cx="2057400" cy="3703320"/>
          </a:xfrm>
          <a:prstGeom prst="roundRect">
            <a:avLst>
              <a:gd name="adj" fmla="val 12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.0991849590984257e+67" dist="3.66394986366142e+66" dir="4.5137758519296005e+78">
              <a:srgbClr val="0A1628">
                <a:alpha val="1.9999999999999996e+7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124712"/>
            <a:ext cx="1911096" cy="35570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pic>
        <p:nvPicPr>
          <p:cNvPr id="9" name="Image 0" descr="D:\Ocavior-flutter\Arcare-App\screenshots\flow_shots\13_progr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138428"/>
            <a:ext cx="1883664" cy="35295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84148" y="1143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1" name="Shape 8"/>
          <p:cNvSpPr/>
          <p:nvPr/>
        </p:nvSpPr>
        <p:spPr>
          <a:xfrm>
            <a:off x="2788920" y="1143000"/>
            <a:ext cx="28346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8845132740531425e+169" dist="7.211283185132856e+168" dir="1.122869541262874e+198">
              <a:srgbClr val="0A1628">
                <a:alpha val="1.1999999999999994e+20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88920" y="1143000"/>
            <a:ext cx="9144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30632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cards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632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kcal, sleep hours, hydration vs targets.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06440" y="1143000"/>
            <a:ext cx="28346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663331858047491e+173" dist="9.158329645118728e+172" dir="6.737217247577243e+202">
              <a:srgbClr val="0A1628">
                <a:alpha val="1.1999999999999994e+20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1143000"/>
            <a:ext cx="91440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60807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graph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0807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Steps / Calories / Sleep / Water charts.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88920" y="2743200"/>
            <a:ext cx="28346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652431459720314e+177" dist="1.1631078649300784e+177" dir="4.042330348546346e+207">
              <a:srgbClr val="0A1628">
                <a:alpha val="1.1999999999999993e+214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88920" y="2743200"/>
            <a:ext cx="91440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30632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logs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06324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 with per-day metric chips.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06440" y="2743200"/>
            <a:ext cx="28346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9085879538447985e+181" dist="1.4771469884611996e+181" dir="2.4253982091278077e+212">
              <a:srgbClr val="0A1628">
                <a:alpha val="1.1999999999999994e+219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06440" y="2743200"/>
            <a:ext cx="91440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608076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switch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08076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Monthly aggregation.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12/15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Profile &amp; preferences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identity, body metrics, Health Connect, goals, and notification toggles.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124712"/>
            <a:ext cx="1965960" cy="3566160"/>
          </a:xfrm>
          <a:prstGeom prst="roundRect">
            <a:avLst>
              <a:gd name="adj" fmla="val 13023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51560"/>
            <a:ext cx="1965960" cy="3566160"/>
          </a:xfrm>
          <a:prstGeom prst="roundRect">
            <a:avLst>
              <a:gd name="adj" fmla="val 1302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.3959648980550006e+71" dist="4.653216326850003e+70" dir="2.7082655111577604e+83">
              <a:srgbClr val="0A1628">
                <a:alpha val="1.9999999999999997e+8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124712"/>
            <a:ext cx="1819656" cy="3419856"/>
          </a:xfrm>
          <a:prstGeom prst="roundRect">
            <a:avLst>
              <a:gd name="adj" fmla="val 11055"/>
            </a:avLst>
          </a:prstGeom>
          <a:solidFill>
            <a:srgbClr val="FFFFFF"/>
          </a:solidFill>
          <a:ln/>
        </p:spPr>
      </p:sp>
      <p:pic>
        <p:nvPicPr>
          <p:cNvPr id="9" name="Image 0" descr="D:\Ocavior-flutter\Arcare-App\screenshots\flow_shots\14_profile_ed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" y="1138428"/>
            <a:ext cx="1792224" cy="33924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92708" y="1143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1" name="Shape 8"/>
          <p:cNvSpPr/>
          <p:nvPr/>
        </p:nvSpPr>
        <p:spPr>
          <a:xfrm>
            <a:off x="2569464" y="1124712"/>
            <a:ext cx="1965960" cy="3566160"/>
          </a:xfrm>
          <a:prstGeom prst="roundRect">
            <a:avLst>
              <a:gd name="adj" fmla="val 13023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051560"/>
            <a:ext cx="1965960" cy="3566160"/>
          </a:xfrm>
          <a:prstGeom prst="roundRect">
            <a:avLst>
              <a:gd name="adj" fmla="val 1302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.7728754205298507e+75" dist="5.909584735099504e+74" dir="1.6249593066946563e+88">
              <a:srgbClr val="0A1628">
                <a:alpha val="1.9999999999999997e+8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87752" y="1124712"/>
            <a:ext cx="1819656" cy="3419856"/>
          </a:xfrm>
          <a:prstGeom prst="roundRect">
            <a:avLst>
              <a:gd name="adj" fmla="val 11055"/>
            </a:avLst>
          </a:prstGeom>
          <a:solidFill>
            <a:srgbClr val="FFFFFF"/>
          </a:solidFill>
          <a:ln/>
        </p:spPr>
      </p:sp>
      <p:pic>
        <p:nvPicPr>
          <p:cNvPr id="14" name="Image 1" descr="D:\Ocavior-flutter\Arcare-App\screenshots\flow_shots\15_notificat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68" y="1138428"/>
            <a:ext cx="1792224" cy="339242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41548" y="1143000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6" name="Shape 12"/>
          <p:cNvSpPr/>
          <p:nvPr/>
        </p:nvSpPr>
        <p:spPr>
          <a:xfrm>
            <a:off x="4754880" y="1097280"/>
            <a:ext cx="3977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503906701382894e+185" dist="1.8759766753457235e+185" dir="1.4552389254766846e+217">
              <a:srgbClr val="0A1628">
                <a:alpha val="1.1999999999999994e+224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89204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257800" y="1143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Profile sheet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257800" y="1389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gender, height, weight → Save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754880" y="1737360"/>
            <a:ext cx="3977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529961510756276e+189" dist="2.382490377689069e+189" dir="8.731433552860108e+221">
              <a:srgbClr val="0A1628">
                <a:alpha val="1.1999999999999994e+229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89204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25780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card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257800" y="20299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BMI + Normal / other status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54880" y="2377440"/>
            <a:ext cx="3977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10305111866047e+194" dist="3.0257627796651175e+193" dir="5.238860131716065e+226">
              <a:srgbClr val="0A1628">
                <a:alpha val="1.1999999999999994e+234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89204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25780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goals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257800" y="2670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water, sleep, calorie targets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754880" y="3017520"/>
            <a:ext cx="3977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370874920698797e+198" dist="3.8427187301746993e+197" dir="3.143316079029639e+231">
              <a:srgbClr val="0A1628">
                <a:alpha val="1.1999999999999992e+239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89204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25780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Connect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257800" y="33101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auto-sync of wearable data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754880" y="3657600"/>
            <a:ext cx="3977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9521011149287473e+202" dist="4.880252787321868e+201" dir="1.8859896474177833e+236">
              <a:srgbClr val="0A1628">
                <a:alpha val="1.1999999999999992e+244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892040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5257800" y="3703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257800" y="3950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tips, hydration, sleep, activity, challenges, daily digest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13/15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navigation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from Home + 5-tab shell. Center tab = AI Buddy chat (log, updates, Q&amp;A).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  <a:effectLst>
            <a:outerShdw sx="100000" sy="100000" kx="0" ky="0" algn="bl" rotWithShape="0" blurRad="2.479168415959509e+206" dist="6.197921039898773e+205" dir="1.13159378845067e+241">
              <a:srgbClr val="0A1628">
                <a:alpha val="1.1999999999999991e+24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1485438882685765e+210" dist="7.871359720671441e+209" dir="6.789562730704021e+245">
              <a:srgbClr val="0A1628">
                <a:alpha val="1.1999999999999991e+25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91440" cy="6400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986507381010923e+214" dist="9.996626845252731e+213" dir="4.0737376384224125e+250">
              <a:srgbClr val="0A1628">
                <a:alpha val="1.1999999999999991e+2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65960"/>
            <a:ext cx="9144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65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QR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0782864373883875e+218" dist="1.2695716093470969e+218" dir="2.4442425830534476e+255">
              <a:srgbClr val="0A1628">
                <a:alpha val="1.199999999999999e+26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9144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Plan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449423775483253e+222" dist="1.612355943870813e+222" dir="1.4665455498320685e+260">
              <a:srgbClr val="0A1628">
                <a:alpha val="1.1999999999999991e+26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03320"/>
            <a:ext cx="9144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10972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19076819486373e+226" dist="2.0476920487159326e+226" dir="8.799273298992411e+264">
              <a:srgbClr val="0A1628">
                <a:alpha val="1.199999999999999e+27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1097280"/>
            <a:ext cx="914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196596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402275607476938e+231" dist="2.6005689018692344e+230" dir="5.279563979395447e+269">
              <a:srgbClr val="0A1628">
                <a:alpha val="1.199999999999999e+27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1965960"/>
            <a:ext cx="914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1965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283464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089002149571e+235" dist="3.3027225053739275e+234" dir="3.1677383876372682e+274">
              <a:srgbClr val="0A1628">
                <a:alpha val="1.199999999999999e+28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2834640"/>
            <a:ext cx="9144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Buddy Chat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37033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77830327299553e+239" dist="4.194457581824888e+238" dir="1.900643032582361e+279">
              <a:srgbClr val="0A1628">
                <a:alpha val="1.199999999999999e+28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3703320"/>
            <a:ext cx="914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0" y="2103120"/>
            <a:ext cx="27432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307844515670433e+243" dist="5.326961128917608e+242" dir="1.1403858195494166e+284">
              <a:srgbClr val="0A1628">
                <a:alpha val="1.199999999999999e+294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375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tabs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Home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Challenges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66160" y="3236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Buddy  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66160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Progress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6616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Profile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MediFit Wellness360  ·  User Flow  ·  14/15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in one 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sign-up to daily habit loop.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44752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444752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13432" y="187452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23744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2523744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92424" y="187452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02736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02736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71416" y="187452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50408" y="187452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60720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187452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39712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39712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08392" y="187452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18704" y="1828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7918704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2651760"/>
            <a:ext cx="3977640" cy="822960"/>
          </a:xfrm>
          <a:prstGeom prst="roundRect">
            <a:avLst>
              <a:gd name="adj" fmla="val 13333"/>
            </a:avLst>
          </a:prstGeom>
          <a:solidFill>
            <a:srgbClr val="132033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Hub-first design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is the control center for score, plans, SOS, and gym.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2651760"/>
            <a:ext cx="3977640" cy="822960"/>
          </a:xfrm>
          <a:prstGeom prst="roundRect">
            <a:avLst>
              <a:gd name="adj" fmla="val 13333"/>
            </a:avLst>
          </a:prstGeom>
          <a:solidFill>
            <a:srgbClr val="132033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Buddy chat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tab chat: log water/steps, get score updates, ask any health question.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3611880"/>
            <a:ext cx="3977640" cy="822960"/>
          </a:xfrm>
          <a:prstGeom prst="roundRect">
            <a:avLst>
              <a:gd name="adj" fmla="val 13333"/>
            </a:avLst>
          </a:prstGeom>
          <a:solidFill>
            <a:srgbClr val="132033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721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plans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&amp; nutrition plans generated in a guided wizard.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3611880"/>
            <a:ext cx="3977640" cy="822960"/>
          </a:xfrm>
          <a:prstGeom prst="roundRect">
            <a:avLst>
              <a:gd name="adj" fmla="val 13333"/>
            </a:avLst>
          </a:prstGeom>
          <a:solidFill>
            <a:srgbClr val="132033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721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3776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or screens to log → Challenges → Progress → Profile.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MediFit Wellness360 — User Flow</dc:title>
  <dc:subject>End-to-end user journey from app demo video</dc:subject>
  <dc:creator>MediFit</dc:creator>
  <cp:lastModifiedBy>MediFit</cp:lastModifiedBy>
  <cp:revision>1</cp:revision>
  <dcterms:created xsi:type="dcterms:W3CDTF">2026-07-22T15:21:09Z</dcterms:created>
  <dcterms:modified xsi:type="dcterms:W3CDTF">2026-07-22T15:21:09Z</dcterms:modified>
</cp:coreProperties>
</file>